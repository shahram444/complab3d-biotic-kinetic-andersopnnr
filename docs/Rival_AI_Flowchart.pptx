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D700"/>
                </a:solidFill>
                <a:latin typeface="Consolas"/>
              </a:rPr>
              <a:t>Rival Microbe AI — Decision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88899"/>
                </a:solidFill>
                <a:latin typeface="Consolas"/>
              </a:rPr>
              <a:t>rival.gd  →  do_move()  called every 0.4 seconds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097280"/>
            <a:ext cx="1828800" cy="502920"/>
          </a:xfrm>
          <a:prstGeom prst="roundRect">
            <a:avLst/>
          </a:prstGeom>
          <a:solidFill>
            <a:srgbClr val="B03030"/>
          </a:solidFill>
          <a:ln w="25400">
            <a:solidFill>
              <a:srgbClr val="E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do_move()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0" y="1600200"/>
            <a:ext cx="0" cy="320040"/>
          </a:xfrm>
          <a:prstGeom prst="line">
            <a:avLst/>
          </a:prstGeom>
          <a:ln w="25400">
            <a:solidFill>
              <a:srgbClr val="888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114800" y="1920240"/>
            <a:ext cx="2377440" cy="548640"/>
          </a:xfrm>
          <a:prstGeom prst="roundRect">
            <a:avLst/>
          </a:prstGeom>
          <a:solidFill>
            <a:srgbClr val="141828"/>
          </a:solidFill>
          <a:ln w="25400">
            <a:solidFill>
              <a:srgbClr val="2A2E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0B0C0"/>
                </a:solidFill>
                <a:latin typeface="Consolas"/>
              </a:rPr>
              <a:t>var roll = randf()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888899"/>
                </a:solidFill>
                <a:latin typeface="Consolas"/>
              </a:rPr>
              <a:t>Random 0.0 — 1.0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03520" y="2468880"/>
            <a:ext cx="0" cy="457200"/>
          </a:xfrm>
          <a:prstGeom prst="line">
            <a:avLst/>
          </a:prstGeom>
          <a:ln w="25400">
            <a:solidFill>
              <a:srgbClr val="888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iamond 7"/>
          <p:cNvSpPr/>
          <p:nvPr/>
        </p:nvSpPr>
        <p:spPr>
          <a:xfrm>
            <a:off x="4023360" y="2926080"/>
            <a:ext cx="2560320" cy="914400"/>
          </a:xfrm>
          <a:prstGeom prst="diamond">
            <a:avLst/>
          </a:prstGeom>
          <a:solidFill>
            <a:srgbClr val="0F1525"/>
          </a:solidFill>
          <a:ln w="25400">
            <a:solidFill>
              <a:srgbClr val="4FD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DF6F"/>
                </a:solidFill>
                <a:latin typeface="Consolas"/>
              </a:rPr>
              <a:t>roll &lt; 45-75%?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(seek_chance)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474720" y="3383280"/>
            <a:ext cx="548640" cy="0"/>
          </a:xfrm>
          <a:prstGeom prst="line">
            <a:avLst/>
          </a:prstGeom>
          <a:ln w="25400">
            <a:solidFill>
              <a:srgbClr val="4FDF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97280" y="2880360"/>
            <a:ext cx="2377440" cy="1005840"/>
          </a:xfrm>
          <a:prstGeom prst="roundRect">
            <a:avLst/>
          </a:prstGeom>
          <a:solidFill>
            <a:srgbClr val="0A2010"/>
          </a:solidFill>
          <a:ln w="25400">
            <a:solidFill>
              <a:srgbClr val="4FD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4FDF6F"/>
                </a:solidFill>
                <a:latin typeface="Consolas"/>
              </a:rPr>
              <a:t>SEEK FOOD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0B0C0"/>
                </a:solidFill>
                <a:latin typeface="Consolas"/>
              </a:rPr>
              <a:t>_seek_substrate()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Find nearest substrate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within 12 tiles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Step toward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063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FDF6F"/>
                </a:solidFill>
                <a:latin typeface="Consolas"/>
              </a:rPr>
              <a:t>YES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03520" y="3840480"/>
            <a:ext cx="0" cy="274320"/>
          </a:xfrm>
          <a:prstGeom prst="line">
            <a:avLst/>
          </a:prstGeom>
          <a:ln w="25400">
            <a:solidFill>
              <a:srgbClr val="888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394960" y="37947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06060"/>
                </a:solidFill>
                <a:latin typeface="Consolas"/>
              </a:rPr>
              <a:t>NO</a:t>
            </a:r>
          </a:p>
        </p:txBody>
      </p:sp>
      <p:sp>
        <p:nvSpPr>
          <p:cNvPr id="14" name="Diamond 13"/>
          <p:cNvSpPr/>
          <p:nvPr/>
        </p:nvSpPr>
        <p:spPr>
          <a:xfrm>
            <a:off x="4023360" y="4114800"/>
            <a:ext cx="2560320" cy="914400"/>
          </a:xfrm>
          <a:prstGeom prst="diamond">
            <a:avLst/>
          </a:prstGeom>
          <a:solidFill>
            <a:srgbClr val="0F1525"/>
          </a:solidFill>
          <a:ln w="25400">
            <a:solidFill>
              <a:srgbClr val="2ACF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ACFAF"/>
                </a:solidFill>
                <a:latin typeface="Consolas"/>
              </a:rPr>
              <a:t>roll &lt; +15%?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player &lt; 10 tiles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0" y="4572000"/>
            <a:ext cx="2560320" cy="0"/>
          </a:xfrm>
          <a:prstGeom prst="line">
            <a:avLst/>
          </a:prstGeom>
          <a:ln w="25400">
            <a:solidFill>
              <a:srgbClr val="2ACF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0" y="4069080"/>
            <a:ext cx="2377440" cy="1005840"/>
          </a:xfrm>
          <a:prstGeom prst="roundRect">
            <a:avLst/>
          </a:prstGeom>
          <a:solidFill>
            <a:srgbClr val="0A1818"/>
          </a:solidFill>
          <a:ln w="25400">
            <a:solidFill>
              <a:srgbClr val="2ACF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ACFAF"/>
                </a:solidFill>
                <a:latin typeface="Consolas"/>
              </a:rPr>
              <a:t>TRACK ARKE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0B0C0"/>
                </a:solidFill>
                <a:latin typeface="Consolas"/>
              </a:rPr>
              <a:t>_step_toward()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Move toward player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PLAYER_SENSE = 10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Compete for food zone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251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ACFAF"/>
                </a:solidFill>
                <a:latin typeface="Consolas"/>
              </a:rPr>
              <a:t>YES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03520" y="5029200"/>
            <a:ext cx="0" cy="182880"/>
          </a:xfrm>
          <a:prstGeom prst="line">
            <a:avLst/>
          </a:prstGeom>
          <a:ln w="25400">
            <a:solidFill>
              <a:srgbClr val="888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94960" y="49834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06060"/>
                </a:solidFill>
                <a:latin typeface="Consolas"/>
              </a:rPr>
              <a:t>NO</a:t>
            </a:r>
          </a:p>
        </p:txBody>
      </p:sp>
      <p:sp>
        <p:nvSpPr>
          <p:cNvPr id="20" name="Diamond 19"/>
          <p:cNvSpPr/>
          <p:nvPr/>
        </p:nvSpPr>
        <p:spPr>
          <a:xfrm>
            <a:off x="4023360" y="5212080"/>
            <a:ext cx="2560320" cy="914400"/>
          </a:xfrm>
          <a:prstGeom prst="diamond">
            <a:avLst/>
          </a:prstGeom>
          <a:solidFill>
            <a:srgbClr val="0F1525"/>
          </a:solidFill>
          <a:ln w="25400">
            <a:solidFill>
              <a:srgbClr val="4FA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A4FF"/>
                </a:solidFill>
                <a:latin typeface="Consolas"/>
              </a:rPr>
              <a:t>flow &gt; 0.1 &amp;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A4FF"/>
                </a:solidFill>
                <a:latin typeface="Consolas"/>
              </a:rPr>
              <a:t>40% chance?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3474720" y="5669280"/>
            <a:ext cx="548640" cy="0"/>
          </a:xfrm>
          <a:prstGeom prst="line">
            <a:avLst/>
          </a:prstGeom>
          <a:ln w="25400">
            <a:solidFill>
              <a:srgbClr val="4FA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097280" y="5166360"/>
            <a:ext cx="2377440" cy="1005840"/>
          </a:xfrm>
          <a:prstGeom prst="roundRect">
            <a:avLst/>
          </a:prstGeom>
          <a:solidFill>
            <a:srgbClr val="0A1222"/>
          </a:solidFill>
          <a:ln w="25400">
            <a:solidFill>
              <a:srgbClr val="4FA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4FA4FF"/>
                </a:solidFill>
                <a:latin typeface="Consolas"/>
              </a:rPr>
              <a:t>RIDE FLOW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0B0C0"/>
                </a:solidFill>
                <a:latin typeface="Consolas"/>
              </a:rPr>
              <a:t>get_flow(tile_x, tile_y)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Follow flow_dir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speed &gt; 0.1 required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40% chance per tick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349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FA4FF"/>
                </a:solidFill>
                <a:latin typeface="Consolas"/>
              </a:rPr>
              <a:t>YES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5303520" y="5943600"/>
            <a:ext cx="0" cy="182880"/>
          </a:xfrm>
          <a:prstGeom prst="line">
            <a:avLst/>
          </a:prstGeom>
          <a:ln w="25400">
            <a:solidFill>
              <a:srgbClr val="888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94960" y="60807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06060"/>
                </a:solidFill>
                <a:latin typeface="Consolas"/>
              </a:rPr>
              <a:t>NO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0" y="5943600"/>
            <a:ext cx="2377440" cy="594360"/>
          </a:xfrm>
          <a:prstGeom prst="roundRect">
            <a:avLst/>
          </a:prstGeom>
          <a:solidFill>
            <a:srgbClr val="20150A"/>
          </a:solidFill>
          <a:ln w="25400">
            <a:solidFill>
              <a:srgbClr val="EF8F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EF8F3F"/>
                </a:solidFill>
                <a:latin typeface="Consolas"/>
              </a:rPr>
              <a:t>WANDER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Try preferred dir → shuffle random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0" y="2468880"/>
            <a:ext cx="2560320" cy="1371600"/>
          </a:xfrm>
          <a:prstGeom prst="roundRect">
            <a:avLst/>
          </a:prstGeom>
          <a:solidFill>
            <a:srgbClr val="1A1010"/>
          </a:solidFill>
          <a:ln w="25400">
            <a:solidFill>
              <a:srgbClr val="E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E06060"/>
                </a:solidFill>
                <a:latin typeface="Consolas"/>
              </a:rPr>
              <a:t>HUNGER SYSTEM</a:t>
            </a:r>
          </a:p>
          <a:p>
            <a:pPr algn="ctr">
              <a:spcAft>
                <a:spcPts val="200"/>
              </a:spcAft>
            </a:pPr>
            <a:r>
              <a:rPr sz="600" b="0">
                <a:solidFill>
                  <a:srgbClr val="888899"/>
                </a:solidFill>
                <a:latin typeface="Consolas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0B0C0"/>
                </a:solidFill>
                <a:latin typeface="Consolas"/>
              </a:rPr>
              <a:t>hunger += delta * 0.3</a:t>
            </a:r>
          </a:p>
          <a:p>
            <a:pPr algn="ctr">
              <a:spcAft>
                <a:spcPts val="200"/>
              </a:spcAft>
            </a:pPr>
            <a:r>
              <a:rPr sz="600" b="0">
                <a:solidFill>
                  <a:srgbClr val="888899"/>
                </a:solidFill>
                <a:latin typeface="Consolas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onsolas"/>
              </a:rPr>
              <a:t>seek_chance =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FFFF5F"/>
                </a:solidFill>
                <a:latin typeface="Consolas"/>
              </a:rPr>
              <a:t>  0.45 + hunger * 0.05</a:t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888899"/>
                </a:solidFill>
                <a:latin typeface="Consolas"/>
              </a:rPr>
              <a:t>  clamped to [0.45, 0.75]</a:t>
            </a:r>
          </a:p>
          <a:p>
            <a:pPr algn="ctr">
              <a:spcAft>
                <a:spcPts val="200"/>
              </a:spcAft>
            </a:pPr>
            <a:r>
              <a:rPr sz="600" b="0">
                <a:solidFill>
                  <a:srgbClr val="888899"/>
                </a:solidFill>
                <a:latin typeface="Consolas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900" b="0">
                <a:solidFill>
                  <a:srgbClr val="4FDF6F"/>
                </a:solidFill>
                <a:latin typeface="Consolas"/>
              </a:rPr>
              <a:t>Resets to 0 on eat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8899"/>
                </a:solidFill>
                <a:latin typeface="Consolas"/>
              </a:rPr>
              <a:t>ARKE: Guardians of Earth  |  rival.gd  →  do_move() lines 47-115  |  Based on CompLaB3D 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700"/>
                </a:solidFill>
                <a:latin typeface="Consolas"/>
              </a:rPr>
              <a:t>Rival AI — Code Reference with Inline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99"/>
                </a:solidFill>
                <a:latin typeface="Consolas"/>
              </a:rPr>
              <a:t>rival.gd  —  Key sections annotated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14400"/>
            <a:ext cx="5577840" cy="292608"/>
          </a:xfrm>
          <a:prstGeom prst="roundRect">
            <a:avLst/>
          </a:prstGeom>
          <a:solidFill>
            <a:srgbClr val="0A101A"/>
          </a:solidFill>
          <a:ln w="19050">
            <a:solidFill>
              <a:srgbClr val="CF6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CF6FFF"/>
                </a:solidFill>
                <a:latin typeface="Consolas"/>
              </a:rPr>
              <a:t>  1. CONSTANTS &amp; STATE</a:t>
            </a:r>
            <a:r>
              <a:rPr sz="900">
                <a:solidFill>
                  <a:srgbClr val="888899"/>
                </a:solidFill>
                <a:latin typeface="Consolas"/>
              </a:rPr>
              <a:t>    (Lines 4-17)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07008"/>
            <a:ext cx="5577840" cy="877824"/>
          </a:xfrm>
          <a:prstGeom prst="roundRect">
            <a:avLst/>
          </a:prstGeom>
          <a:solidFill>
            <a:srgbClr val="101422"/>
          </a:solidFill>
          <a:ln w="12700">
            <a:solidFill>
              <a:srgbClr val="1A1E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50800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const SENSE_RANGE := 12</a:t>
            </a:r>
            <a:r>
              <a:rPr sz="900">
                <a:solidFill>
                  <a:srgbClr val="607050"/>
                </a:solidFill>
                <a:latin typeface="Consolas"/>
              </a:rPr>
              <a:t>  # How far rival can 'smell' food (tiles)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const PLAYER_SENSE := 10</a:t>
            </a:r>
            <a:r>
              <a:rPr sz="900">
                <a:solidFill>
                  <a:srgbClr val="607050"/>
                </a:solidFill>
                <a:latin typeface="Consolas"/>
              </a:rPr>
              <a:t>  # Detection radius for ARKE (tiles)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var hunger: float = 0.0</a:t>
            </a:r>
            <a:r>
              <a:rPr sz="900">
                <a:solidFill>
                  <a:srgbClr val="607050"/>
                </a:solidFill>
                <a:latin typeface="Consolas"/>
              </a:rPr>
              <a:t>  # Increases over time → more aggressive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var move_dir: int = 1</a:t>
            </a:r>
            <a:r>
              <a:rPr sz="900">
                <a:solidFill>
                  <a:srgbClr val="607050"/>
                </a:solidFill>
                <a:latin typeface="Consolas"/>
              </a:rPr>
              <a:t>  # Preferred wander direction (1-4)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57984"/>
            <a:ext cx="5577840" cy="292608"/>
          </a:xfrm>
          <a:prstGeom prst="roundRect">
            <a:avLst/>
          </a:prstGeom>
          <a:solidFill>
            <a:srgbClr val="0A101A"/>
          </a:solidFill>
          <a:ln w="19050">
            <a:solidFill>
              <a:srgbClr val="E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E06060"/>
                </a:solidFill>
                <a:latin typeface="Consolas"/>
              </a:rPr>
              <a:t>  2. HUNGER GROWTH (every frame)</a:t>
            </a:r>
            <a:r>
              <a:rPr sz="900">
                <a:solidFill>
                  <a:srgbClr val="888899"/>
                </a:solidFill>
                <a:latin typeface="Consolas"/>
              </a:rPr>
              <a:t>    (Line 30)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450592"/>
            <a:ext cx="5577840" cy="274320"/>
          </a:xfrm>
          <a:prstGeom prst="roundRect">
            <a:avLst/>
          </a:prstGeom>
          <a:solidFill>
            <a:srgbClr val="101422"/>
          </a:solidFill>
          <a:ln w="12700">
            <a:solidFill>
              <a:srgbClr val="1A1E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50800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hunger += delta * 0.3</a:t>
            </a:r>
            <a:r>
              <a:rPr sz="900">
                <a:solidFill>
                  <a:srgbClr val="607050"/>
                </a:solidFill>
                <a:latin typeface="Consolas"/>
              </a:rPr>
              <a:t>  # Hunger rises 0.3/sec continuously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798064"/>
            <a:ext cx="5577840" cy="292608"/>
          </a:xfrm>
          <a:prstGeom prst="roundRect">
            <a:avLst/>
          </a:prstGeom>
          <a:solidFill>
            <a:srgbClr val="0A101A"/>
          </a:solidFill>
          <a:ln w="19050">
            <a:solidFill>
              <a:srgbClr val="4FD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4FDF6F"/>
                </a:solidFill>
                <a:latin typeface="Consolas"/>
              </a:rPr>
              <a:t>  3. SEEK FOOD (45-75% chance)</a:t>
            </a:r>
            <a:r>
              <a:rPr sz="900">
                <a:solidFill>
                  <a:srgbClr val="888899"/>
                </a:solidFill>
                <a:latin typeface="Consolas"/>
              </a:rPr>
              <a:t>    (Lines 53-64, 117-132)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090672"/>
            <a:ext cx="5577840" cy="1682496"/>
          </a:xfrm>
          <a:prstGeom prst="roundRect">
            <a:avLst/>
          </a:prstGeom>
          <a:solidFill>
            <a:srgbClr val="101422"/>
          </a:solidFill>
          <a:ln w="12700">
            <a:solidFill>
              <a:srgbClr val="1A1E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50800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var seek_chance = clampf(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0.45 + hunger * 0.05, 0.45, 0.75)</a:t>
            </a:r>
            <a:r>
              <a:rPr sz="900">
                <a:solidFill>
                  <a:srgbClr val="607050"/>
                </a:solidFill>
                <a:latin typeface="Consolas"/>
              </a:rPr>
              <a:t>  # More hungry → more likely to seek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if roll &lt; seek_chance:</a:t>
            </a:r>
            <a:r>
              <a:rPr sz="900">
                <a:solidFill>
                  <a:srgbClr val="607050"/>
                </a:solidFill>
                <a:latin typeface="Consolas"/>
              </a:rPr>
              <a:t>  # Random roll decides behavior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var best = _seek_substrate(subs)</a:t>
            </a:r>
            <a:r>
              <a:rPr sz="900">
                <a:solidFill>
                  <a:srgbClr val="607050"/>
                </a:solidFill>
                <a:latin typeface="Consolas"/>
              </a:rPr>
              <a:t>  # Find nearest substrate in range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for s in subs:</a:t>
            </a:r>
            <a:r>
              <a:rPr sz="900">
                <a:solidFill>
                  <a:srgbClr val="607050"/>
                </a:solidFill>
                <a:latin typeface="Consolas"/>
              </a:rPr>
              <a:t>  # Loop all substrates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  if dist &lt; SENSE_RANGE * T:</a:t>
            </a:r>
            <a:r>
              <a:rPr sz="900">
                <a:solidFill>
                  <a:srgbClr val="607050"/>
                </a:solidFill>
                <a:latin typeface="Consolas"/>
              </a:rPr>
              <a:t>  # Within 12-tile smell radius?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    best_pos = s.position</a:t>
            </a:r>
            <a:r>
              <a:rPr sz="900">
                <a:solidFill>
                  <a:srgbClr val="607050"/>
                </a:solidFill>
                <a:latin typeface="Consolas"/>
              </a:rPr>
              <a:t>  # Remember closest one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return _step_toward(dx, dy)</a:t>
            </a:r>
            <a:r>
              <a:rPr sz="900">
                <a:solidFill>
                  <a:srgbClr val="607050"/>
                </a:solidFill>
                <a:latin typeface="Consolas"/>
              </a:rPr>
              <a:t>  # Move one tile toward food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846320"/>
            <a:ext cx="5577840" cy="292608"/>
          </a:xfrm>
          <a:prstGeom prst="roundRect">
            <a:avLst/>
          </a:prstGeom>
          <a:solidFill>
            <a:srgbClr val="0A101A"/>
          </a:solidFill>
          <a:ln w="19050">
            <a:solidFill>
              <a:srgbClr val="2ACF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ACFAF"/>
                </a:solidFill>
                <a:latin typeface="Consolas"/>
              </a:rPr>
              <a:t>  4. TRACK ARKE (15% chance)</a:t>
            </a:r>
            <a:r>
              <a:rPr sz="900">
                <a:solidFill>
                  <a:srgbClr val="888899"/>
                </a:solidFill>
                <a:latin typeface="Consolas"/>
              </a:rPr>
              <a:t>    (Lines 67-80)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138928"/>
            <a:ext cx="5577840" cy="877824"/>
          </a:xfrm>
          <a:prstGeom prst="roundRect">
            <a:avLst/>
          </a:prstGeom>
          <a:solidFill>
            <a:srgbClr val="101422"/>
          </a:solidFill>
          <a:ln w="12700">
            <a:solidFill>
              <a:srgbClr val="1A1E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50800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if roll &lt; seek_chance + 0.15:</a:t>
            </a:r>
            <a:r>
              <a:rPr sz="900">
                <a:solidFill>
                  <a:srgbClr val="607050"/>
                </a:solidFill>
                <a:latin typeface="Consolas"/>
              </a:rPr>
              <a:t>  # 15% chance to chase player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if absi(dx)+absi(dy) &lt; PLAYER_SENSE:</a:t>
            </a:r>
            <a:r>
              <a:rPr sz="900">
                <a:solidFill>
                  <a:srgbClr val="607050"/>
                </a:solidFill>
                <a:latin typeface="Consolas"/>
              </a:rPr>
              <a:t>  # Player within 10 tiles?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  var toward = _step_toward(dx, dy)</a:t>
            </a:r>
            <a:r>
              <a:rPr sz="900">
                <a:solidFill>
                  <a:srgbClr val="607050"/>
                </a:solidFill>
                <a:latin typeface="Consolas"/>
              </a:rPr>
              <a:t>  # Move toward ARKE's position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  _move_to(ntx, nty)</a:t>
            </a:r>
            <a:r>
              <a:rPr sz="900">
                <a:solidFill>
                  <a:srgbClr val="607050"/>
                </a:solidFill>
                <a:latin typeface="Consolas"/>
              </a:rPr>
              <a:t>  # Execute the move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914400"/>
            <a:ext cx="5577840" cy="292608"/>
          </a:xfrm>
          <a:prstGeom prst="roundRect">
            <a:avLst/>
          </a:prstGeom>
          <a:solidFill>
            <a:srgbClr val="0A101A"/>
          </a:solidFill>
          <a:ln w="19050">
            <a:solidFill>
              <a:srgbClr val="4FA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4FA4FF"/>
                </a:solidFill>
                <a:latin typeface="Consolas"/>
              </a:rPr>
              <a:t>  5. RIDE FLOW (40% when available)</a:t>
            </a:r>
            <a:r>
              <a:rPr sz="900">
                <a:solidFill>
                  <a:srgbClr val="888899"/>
                </a:solidFill>
                <a:latin typeface="Consolas"/>
              </a:rPr>
              <a:t>    (Lines 86-96)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07008"/>
            <a:ext cx="5577840" cy="877824"/>
          </a:xfrm>
          <a:prstGeom prst="roundRect">
            <a:avLst/>
          </a:prstGeom>
          <a:solidFill>
            <a:srgbClr val="101422"/>
          </a:solidFill>
          <a:ln w="12700">
            <a:solidFill>
              <a:srgbClr val="1A1E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50800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var flow = world_ref.get_flow(tile_x, tile_y)</a:t>
            </a:r>
            <a:r>
              <a:rPr sz="900">
                <a:solidFill>
                  <a:srgbClr val="607050"/>
                </a:solidFill>
                <a:latin typeface="Consolas"/>
              </a:rPr>
              <a:t>  # Get flow at current tile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if flow['speed'] &gt; 0.1 and randf() &lt; 0.4:</a:t>
            </a:r>
            <a:r>
              <a:rPr sz="900">
                <a:solidFill>
                  <a:srgbClr val="607050"/>
                </a:solidFill>
                <a:latin typeface="Consolas"/>
              </a:rPr>
              <a:t>  # Flow exists + 40% chance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var fd = flow_dirs[flow['dir']]</a:t>
            </a:r>
            <a:r>
              <a:rPr sz="900">
                <a:solidFill>
                  <a:srgbClr val="607050"/>
                </a:solidFill>
                <a:latin typeface="Consolas"/>
              </a:rPr>
              <a:t>  # Get flow direction vector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_move_to(tile_x + fd.x, tile_y + fd.y)</a:t>
            </a:r>
            <a:r>
              <a:rPr sz="900">
                <a:solidFill>
                  <a:srgbClr val="607050"/>
                </a:solidFill>
                <a:latin typeface="Consolas"/>
              </a:rPr>
              <a:t>  # Ride the current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57984"/>
            <a:ext cx="5577840" cy="292608"/>
          </a:xfrm>
          <a:prstGeom prst="roundRect">
            <a:avLst/>
          </a:prstGeom>
          <a:solidFill>
            <a:srgbClr val="0A101A"/>
          </a:solidFill>
          <a:ln w="19050">
            <a:solidFill>
              <a:srgbClr val="EF8F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EF8F3F"/>
                </a:solidFill>
                <a:latin typeface="Consolas"/>
              </a:rPr>
              <a:t>  6. WANDER (fallback)</a:t>
            </a:r>
            <a:r>
              <a:rPr sz="900">
                <a:solidFill>
                  <a:srgbClr val="888899"/>
                </a:solidFill>
                <a:latin typeface="Consolas"/>
              </a:rPr>
              <a:t>    (Lines 98-115)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450592"/>
            <a:ext cx="5577840" cy="1078992"/>
          </a:xfrm>
          <a:prstGeom prst="roundRect">
            <a:avLst/>
          </a:prstGeom>
          <a:solidFill>
            <a:srgbClr val="101422"/>
          </a:solidFill>
          <a:ln w="12700">
            <a:solidFill>
              <a:srgbClr val="1A1E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50800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var preferred = dirs[move_dir - 1]</a:t>
            </a:r>
            <a:r>
              <a:rPr sz="900">
                <a:solidFill>
                  <a:srgbClr val="607050"/>
                </a:solidFill>
                <a:latin typeface="Consolas"/>
              </a:rPr>
              <a:t>  # Try preferred direction first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if is_walkable_tile(get_tile(ntx, nty)):</a:t>
            </a:r>
            <a:r>
              <a:rPr sz="900">
                <a:solidFill>
                  <a:srgbClr val="607050"/>
                </a:solidFill>
                <a:latin typeface="Consolas"/>
              </a:rPr>
              <a:t>  # Can we go that way?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_move_to(ntx, nty)</a:t>
            </a:r>
            <a:r>
              <a:rPr sz="900">
                <a:solidFill>
                  <a:srgbClr val="607050"/>
                </a:solidFill>
                <a:latin typeface="Consolas"/>
              </a:rPr>
              <a:t>  # Move there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if randf() &lt; 0.25: move_dir = randi(1,4)</a:t>
            </a:r>
            <a:r>
              <a:rPr sz="900">
                <a:solidFill>
                  <a:srgbClr val="607050"/>
                </a:solidFill>
                <a:latin typeface="Consolas"/>
              </a:rPr>
              <a:t>  # 25% chance: pick new direction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# else: dirs.shuffle() and try each</a:t>
            </a:r>
            <a:r>
              <a:rPr sz="900">
                <a:solidFill>
                  <a:srgbClr val="607050"/>
                </a:solidFill>
                <a:latin typeface="Consolas"/>
              </a:rPr>
              <a:t>  # Fallback: random walkable 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02736"/>
            <a:ext cx="5577840" cy="292608"/>
          </a:xfrm>
          <a:prstGeom prst="roundRect">
            <a:avLst/>
          </a:prstGeom>
          <a:solidFill>
            <a:srgbClr val="0A101A"/>
          </a:solidFill>
          <a:ln w="19050">
            <a:solidFill>
              <a:srgbClr val="FFF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5F"/>
                </a:solidFill>
                <a:latin typeface="Consolas"/>
              </a:rPr>
              <a:t>  7. HUNGER RESET</a:t>
            </a:r>
            <a:r>
              <a:rPr sz="900">
                <a:solidFill>
                  <a:srgbClr val="888899"/>
                </a:solidFill>
                <a:latin typeface="Consolas"/>
              </a:rPr>
              <a:t>    (Lines 167-169)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895344"/>
            <a:ext cx="5577840" cy="676656"/>
          </a:xfrm>
          <a:prstGeom prst="roundRect">
            <a:avLst/>
          </a:prstGeom>
          <a:solidFill>
            <a:srgbClr val="101422"/>
          </a:solidFill>
          <a:ln w="12700">
            <a:solidFill>
              <a:srgbClr val="1A1E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50800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func on_eat() -&gt; void:</a:t>
            </a:r>
            <a:r>
              <a:rPr sz="900">
                <a:solidFill>
                  <a:srgbClr val="607050"/>
                </a:solidFill>
                <a:latin typeface="Consolas"/>
              </a:rPr>
              <a:t>  # Called when rival eats a substrate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eat_flash = 0.3</a:t>
            </a:r>
            <a:r>
              <a:rPr sz="900">
                <a:solidFill>
                  <a:srgbClr val="607050"/>
                </a:solidFill>
                <a:latin typeface="Consolas"/>
              </a:rPr>
              <a:t>  # Visual feedback (red flash)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>
                <a:solidFill>
                  <a:srgbClr val="50B0C0"/>
                </a:solidFill>
                <a:latin typeface="Consolas"/>
              </a:rPr>
              <a:t>  hunger = 0.0</a:t>
            </a:r>
            <a:r>
              <a:rPr sz="900">
                <a:solidFill>
                  <a:srgbClr val="607050"/>
                </a:solidFill>
                <a:latin typeface="Consolas"/>
              </a:rPr>
              <a:t>  # Reset hunger → less aggressive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8899"/>
                </a:solidFill>
                <a:latin typeface="Consolas"/>
              </a:rPr>
              <a:t>ARKE: Guardians of Earth  |  rival.gd  |  GDScript (Godot 4.2+)  |  Based on CompLaB3D Research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D700"/>
                </a:solidFill>
                <a:latin typeface="Consolas"/>
              </a:rPr>
              <a:t>Rival AI — Decision Priority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371600"/>
            <a:ext cx="2560320" cy="2926080"/>
          </a:xfrm>
          <a:prstGeom prst="roundRect">
            <a:avLst/>
          </a:prstGeom>
          <a:solidFill>
            <a:srgbClr val="141828"/>
          </a:solidFill>
          <a:ln w="25400">
            <a:solidFill>
              <a:srgbClr val="4FD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0" lIns="152400" rIns="152400"/>
          <a:lstStyle/>
          <a:p>
            <a:pPr algn="ctr"/>
            <a:r>
              <a:rPr sz="1800" b="1">
                <a:solidFill>
                  <a:srgbClr val="4FDF6F"/>
                </a:solidFill>
                <a:latin typeface="Consolas"/>
              </a:rPr>
              <a:t>SEEK FOOD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FFD700"/>
                </a:solidFill>
                <a:latin typeface="Consolas"/>
              </a:rPr>
              <a:t>Chance: 45–75%</a:t>
            </a:r>
          </a:p>
          <a:p>
            <a:pPr algn="ctr">
              <a:spcBef>
                <a:spcPts val="1600"/>
              </a:spcBef>
            </a:pPr>
            <a:r>
              <a:rPr sz="1000">
                <a:solidFill>
                  <a:srgbClr val="888899"/>
                </a:solidFill>
                <a:latin typeface="Consolas"/>
              </a:rPr>
              <a:t>Detect substrates within 12 tiles
Hunger increases chance over time
_seek_substrate() → _step_toward()</a:t>
            </a:r>
          </a:p>
        </p:txBody>
      </p:sp>
      <p:sp>
        <p:nvSpPr>
          <p:cNvPr id="4" name="Oval 3"/>
          <p:cNvSpPr/>
          <p:nvPr/>
        </p:nvSpPr>
        <p:spPr>
          <a:xfrm>
            <a:off x="1386687" y="1143000"/>
            <a:ext cx="457200" cy="457200"/>
          </a:xfrm>
          <a:prstGeom prst="ellipse">
            <a:avLst/>
          </a:prstGeom>
          <a:solidFill>
            <a:srgbClr val="4FD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A0E1A"/>
                </a:solidFill>
                <a:latin typeface="Consola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32607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88899"/>
                </a:solidFill>
                <a:latin typeface="Consolas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52647" y="1371600"/>
            <a:ext cx="2560320" cy="2926080"/>
          </a:xfrm>
          <a:prstGeom prst="roundRect">
            <a:avLst/>
          </a:prstGeom>
          <a:solidFill>
            <a:srgbClr val="141828"/>
          </a:solidFill>
          <a:ln w="25400">
            <a:solidFill>
              <a:srgbClr val="2ACF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0" lIns="152400" rIns="152400"/>
          <a:lstStyle/>
          <a:p>
            <a:pPr algn="ctr"/>
            <a:r>
              <a:rPr sz="1800" b="1">
                <a:solidFill>
                  <a:srgbClr val="2ACFAF"/>
                </a:solidFill>
                <a:latin typeface="Consolas"/>
              </a:rPr>
              <a:t>TRACK ARKE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FFD700"/>
                </a:solidFill>
                <a:latin typeface="Consolas"/>
              </a:rPr>
              <a:t>Chance: 15%</a:t>
            </a:r>
          </a:p>
          <a:p>
            <a:pPr algn="ctr">
              <a:spcBef>
                <a:spcPts val="1600"/>
              </a:spcBef>
            </a:pPr>
            <a:r>
              <a:rPr sz="1000">
                <a:solidFill>
                  <a:srgbClr val="888899"/>
                </a:solidFill>
                <a:latin typeface="Consolas"/>
              </a:rPr>
              <a:t>Follow player within 10 tiles
Compete for same food zone
_step_toward(player_pos)</a:t>
            </a:r>
          </a:p>
        </p:txBody>
      </p:sp>
      <p:sp>
        <p:nvSpPr>
          <p:cNvPr id="7" name="Oval 6"/>
          <p:cNvSpPr/>
          <p:nvPr/>
        </p:nvSpPr>
        <p:spPr>
          <a:xfrm>
            <a:off x="4312767" y="1143000"/>
            <a:ext cx="457200" cy="457200"/>
          </a:xfrm>
          <a:prstGeom prst="ellipse">
            <a:avLst/>
          </a:prstGeom>
          <a:solidFill>
            <a:srgbClr val="2AC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A0E1A"/>
                </a:solidFill>
                <a:latin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58687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88899"/>
                </a:solidFill>
                <a:latin typeface="Consola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371600"/>
            <a:ext cx="2560320" cy="2926080"/>
          </a:xfrm>
          <a:prstGeom prst="roundRect">
            <a:avLst/>
          </a:prstGeom>
          <a:solidFill>
            <a:srgbClr val="141828"/>
          </a:solidFill>
          <a:ln w="25400">
            <a:solidFill>
              <a:srgbClr val="4FA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0" lIns="152400" rIns="152400"/>
          <a:lstStyle/>
          <a:p>
            <a:pPr algn="ctr"/>
            <a:r>
              <a:rPr sz="1800" b="1">
                <a:solidFill>
                  <a:srgbClr val="4FA4FF"/>
                </a:solidFill>
                <a:latin typeface="Consolas"/>
              </a:rPr>
              <a:t>RIDE FLOW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FFD700"/>
                </a:solidFill>
                <a:latin typeface="Consolas"/>
              </a:rPr>
              <a:t>Chance: ~40%*</a:t>
            </a:r>
          </a:p>
          <a:p>
            <a:pPr algn="ctr">
              <a:spcBef>
                <a:spcPts val="1600"/>
              </a:spcBef>
            </a:pPr>
            <a:r>
              <a:rPr sz="1000">
                <a:solidFill>
                  <a:srgbClr val="888899"/>
                </a:solidFill>
                <a:latin typeface="Consolas"/>
              </a:rPr>
              <a:t>If flow speed &gt; 0.1 at current tile
40% chance to follow current
Uses world pressure-driven flow field</a:t>
            </a:r>
          </a:p>
        </p:txBody>
      </p:sp>
      <p:sp>
        <p:nvSpPr>
          <p:cNvPr id="10" name="Oval 9"/>
          <p:cNvSpPr/>
          <p:nvPr/>
        </p:nvSpPr>
        <p:spPr>
          <a:xfrm>
            <a:off x="7238847" y="1143000"/>
            <a:ext cx="457200" cy="457200"/>
          </a:xfrm>
          <a:prstGeom prst="ellipse">
            <a:avLst/>
          </a:prstGeom>
          <a:solidFill>
            <a:srgbClr val="4FA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A0E1A"/>
                </a:solidFill>
                <a:latin typeface="Consola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4767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88899"/>
                </a:solidFill>
                <a:latin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04807" y="1371600"/>
            <a:ext cx="2560320" cy="2926080"/>
          </a:xfrm>
          <a:prstGeom prst="roundRect">
            <a:avLst/>
          </a:prstGeom>
          <a:solidFill>
            <a:srgbClr val="141828"/>
          </a:solidFill>
          <a:ln w="25400">
            <a:solidFill>
              <a:srgbClr val="EF8F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0" lIns="152400" rIns="152400"/>
          <a:lstStyle/>
          <a:p>
            <a:pPr algn="ctr"/>
            <a:r>
              <a:rPr sz="1800" b="1">
                <a:solidFill>
                  <a:srgbClr val="EF8F3F"/>
                </a:solidFill>
                <a:latin typeface="Consolas"/>
              </a:rPr>
              <a:t>WANDER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FFD700"/>
                </a:solidFill>
                <a:latin typeface="Consolas"/>
              </a:rPr>
              <a:t>Chance: Fallback</a:t>
            </a:r>
          </a:p>
          <a:p>
            <a:pPr algn="ctr">
              <a:spcBef>
                <a:spcPts val="1600"/>
              </a:spcBef>
            </a:pPr>
            <a:r>
              <a:rPr sz="1000">
                <a:solidFill>
                  <a:srgbClr val="888899"/>
                </a:solidFill>
                <a:latin typeface="Consolas"/>
              </a:rPr>
              <a:t>Try preferred direction first
25% chance to change direction
If blocked → shuffle &amp; try random</a:t>
            </a:r>
          </a:p>
        </p:txBody>
      </p:sp>
      <p:sp>
        <p:nvSpPr>
          <p:cNvPr id="13" name="Oval 12"/>
          <p:cNvSpPr/>
          <p:nvPr/>
        </p:nvSpPr>
        <p:spPr>
          <a:xfrm>
            <a:off x="10164927" y="1143000"/>
            <a:ext cx="457200" cy="457200"/>
          </a:xfrm>
          <a:prstGeom prst="ellipse">
            <a:avLst/>
          </a:prstGeom>
          <a:solidFill>
            <a:srgbClr val="EF8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A0E1A"/>
                </a:solidFill>
                <a:latin typeface="Consola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99"/>
                </a:solidFill>
                <a:latin typeface="Consolas"/>
              </a:rPr>
              <a:t>* Ride Flow only triggers if the current tile has flow speed &gt; 0.1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5212080"/>
            <a:ext cx="5760720" cy="1097280"/>
          </a:xfrm>
          <a:prstGeom prst="roundRect">
            <a:avLst/>
          </a:prstGeom>
          <a:solidFill>
            <a:srgbClr val="1A1010"/>
          </a:solidFill>
          <a:ln w="19050">
            <a:solidFill>
              <a:srgbClr val="E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E06060"/>
                </a:solidFill>
                <a:latin typeface="Consolas"/>
              </a:rPr>
              <a:t>HUNGER MECHANIC  (affects Priority #1)</a:t>
            </a:r>
          </a:p>
          <a:p>
            <a:pPr algn="ctr">
              <a:spcAft>
                <a:spcPts val="200"/>
              </a:spcAft>
            </a:pPr>
            <a:r>
              <a:rPr sz="400" b="0">
                <a:solidFill>
                  <a:srgbClr val="888899"/>
                </a:solidFill>
                <a:latin typeface="Consolas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0B0C0"/>
                </a:solidFill>
                <a:latin typeface="Consolas"/>
              </a:rPr>
              <a:t>hunger += 0.3/sec  →  seek_chance grows from 45% to 75%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4FDF6F"/>
                </a:solidFill>
                <a:latin typeface="Consolas"/>
              </a:rPr>
              <a:t>on_eat() resets hunger to 0  →  rival calms down after feeding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888899"/>
                </a:solidFill>
                <a:latin typeface="Consolas"/>
              </a:rPr>
              <a:t>Effect: starving rivals become aggressive food-seekers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8899"/>
                </a:solidFill>
                <a:latin typeface="Consolas"/>
              </a:rPr>
              <a:t>ARKE: Guardians of Earth  |  rival.gd  |  GDScript (Godot 4.2+)  |  Based on CompLaB3D 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