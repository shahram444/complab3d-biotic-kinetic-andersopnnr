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D700"/>
                </a:solidFill>
                <a:latin typeface="Consolas"/>
              </a:rPr>
              <a:t>Rival Microbe AI — How It Decides What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BB"/>
                </a:solidFill>
                <a:latin typeface="Consolas"/>
              </a:rPr>
              <a:t>Every 0.4 seconds, the rival asks itself: "What should I do next?"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97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700"/>
                </a:solidFill>
                <a:latin typeface="Consolas"/>
              </a:rPr>
              <a:t>STEP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051560"/>
            <a:ext cx="2194560" cy="548640"/>
          </a:xfrm>
          <a:prstGeom prst="roundRect">
            <a:avLst/>
          </a:prstGeom>
          <a:solidFill>
            <a:srgbClr val="B03030"/>
          </a:solidFill>
          <a:ln w="25400">
            <a:solidFill>
              <a:srgbClr val="E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Timer fires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do_move() is called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0" y="1600200"/>
            <a:ext cx="0" cy="228600"/>
          </a:xfrm>
          <a:prstGeom prst="line">
            <a:avLst/>
          </a:prstGeom>
          <a:ln w="2540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160" y="1874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700"/>
                </a:solidFill>
                <a:latin typeface="Consolas"/>
              </a:rPr>
              <a:t>STEP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828800"/>
            <a:ext cx="2743200" cy="594360"/>
          </a:xfrm>
          <a:prstGeom prst="roundRect">
            <a:avLst/>
          </a:prstGeom>
          <a:solidFill>
            <a:srgbClr val="141828"/>
          </a:solidFill>
          <a:ln w="25400">
            <a:solidFill>
              <a:srgbClr val="2A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onsolas"/>
              </a:rPr>
              <a:t>Roll a random number 0–100%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var roll = randf()  — like rolling a die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0" y="2423160"/>
            <a:ext cx="0" cy="365760"/>
          </a:xfrm>
          <a:prstGeom prst="line">
            <a:avLst/>
          </a:prstGeom>
          <a:ln w="2540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160" y="2926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700"/>
                </a:solidFill>
                <a:latin typeface="Consolas"/>
              </a:rPr>
              <a:t>STEP 3</a:t>
            </a:r>
          </a:p>
        </p:txBody>
      </p:sp>
      <p:sp>
        <p:nvSpPr>
          <p:cNvPr id="11" name="Diamond 10"/>
          <p:cNvSpPr/>
          <p:nvPr/>
        </p:nvSpPr>
        <p:spPr>
          <a:xfrm>
            <a:off x="4023360" y="2788920"/>
            <a:ext cx="2560320" cy="914400"/>
          </a:xfrm>
          <a:prstGeom prst="diamond">
            <a:avLst/>
          </a:prstGeom>
          <a:solidFill>
            <a:srgbClr val="0F1525"/>
          </a:solidFill>
          <a:ln w="25400">
            <a:solidFill>
              <a:srgbClr val="4FD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FDF6F"/>
                </a:solidFill>
                <a:latin typeface="Consolas"/>
              </a:rPr>
              <a:t>Am I hungry?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roll &lt; seek_chance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(45% to 75%)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474720" y="3246120"/>
            <a:ext cx="548640" cy="0"/>
          </a:xfrm>
          <a:prstGeom prst="line">
            <a:avLst/>
          </a:prstGeom>
          <a:ln w="25400">
            <a:solidFill>
              <a:srgbClr val="4FD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2651760"/>
            <a:ext cx="2560320" cy="1188720"/>
          </a:xfrm>
          <a:prstGeom prst="roundRect">
            <a:avLst/>
          </a:prstGeom>
          <a:solidFill>
            <a:srgbClr val="0A2010"/>
          </a:solidFill>
          <a:ln w="25400">
            <a:solidFill>
              <a:srgbClr val="4FD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4FDF6F"/>
                </a:solidFill>
                <a:latin typeface="Consolas"/>
              </a:rPr>
              <a:t>SEEK FOOD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4FDF6F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Look around for the nearest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food (substrate) within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12 tiles — then move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one step toward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DF6F"/>
                </a:solidFill>
                <a:latin typeface="Consolas"/>
              </a:rPr>
              <a:t>YES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0" y="3703320"/>
            <a:ext cx="0" cy="228600"/>
          </a:xfrm>
          <a:prstGeom prst="line">
            <a:avLst/>
          </a:prstGeom>
          <a:ln w="2540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949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6060"/>
                </a:solidFill>
                <a:latin typeface="Consolas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4069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700"/>
                </a:solidFill>
                <a:latin typeface="Consolas"/>
              </a:rPr>
              <a:t>STEP 4</a:t>
            </a:r>
          </a:p>
        </p:txBody>
      </p:sp>
      <p:sp>
        <p:nvSpPr>
          <p:cNvPr id="18" name="Diamond 17"/>
          <p:cNvSpPr/>
          <p:nvPr/>
        </p:nvSpPr>
        <p:spPr>
          <a:xfrm>
            <a:off x="4023360" y="3931920"/>
            <a:ext cx="2560320" cy="914400"/>
          </a:xfrm>
          <a:prstGeom prst="diamond">
            <a:avLst/>
          </a:prstGeom>
          <a:solidFill>
            <a:srgbClr val="0F1525"/>
          </a:solidFill>
          <a:ln w="25400">
            <a:solidFill>
              <a:srgbClr val="2AC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ACFAF"/>
                </a:solidFill>
                <a:latin typeface="Consolas"/>
              </a:rPr>
              <a:t>Is the player nearby?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extra 15% chance &amp;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ARKE within 10 tiles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0" y="4389120"/>
            <a:ext cx="2377440" cy="0"/>
          </a:xfrm>
          <a:prstGeom prst="line">
            <a:avLst/>
          </a:prstGeom>
          <a:ln w="25400">
            <a:solidFill>
              <a:srgbClr val="2AC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61120" y="3794760"/>
            <a:ext cx="2560320" cy="1188720"/>
          </a:xfrm>
          <a:prstGeom prst="roundRect">
            <a:avLst/>
          </a:prstGeom>
          <a:solidFill>
            <a:srgbClr val="0A1818"/>
          </a:solidFill>
          <a:ln w="25400">
            <a:solidFill>
              <a:srgbClr val="2AC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2ACFAF"/>
                </a:solidFill>
                <a:latin typeface="Consolas"/>
              </a:rPr>
              <a:t>TRACK ARKE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2ACFAF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The player (ARKE) is close!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Chase them to compete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for the same food zone.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Move one step toward ARKE.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69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ACFAF"/>
                </a:solidFill>
                <a:latin typeface="Consolas"/>
              </a:rPr>
              <a:t>YES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0" y="4846320"/>
            <a:ext cx="0" cy="182880"/>
          </a:xfrm>
          <a:prstGeom prst="line">
            <a:avLst/>
          </a:prstGeom>
          <a:ln w="2540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94960" y="4800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6060"/>
                </a:solidFill>
                <a:latin typeface="Consolas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166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700"/>
                </a:solidFill>
                <a:latin typeface="Consolas"/>
              </a:rPr>
              <a:t>STEP 5</a:t>
            </a:r>
          </a:p>
        </p:txBody>
      </p:sp>
      <p:sp>
        <p:nvSpPr>
          <p:cNvPr id="25" name="Diamond 24"/>
          <p:cNvSpPr/>
          <p:nvPr/>
        </p:nvSpPr>
        <p:spPr>
          <a:xfrm>
            <a:off x="4023360" y="5029200"/>
            <a:ext cx="2560320" cy="914400"/>
          </a:xfrm>
          <a:prstGeom prst="diamond">
            <a:avLst/>
          </a:prstGeom>
          <a:solidFill>
            <a:srgbClr val="0F1525"/>
          </a:solidFill>
          <a:ln w="25400">
            <a:solidFill>
              <a:srgbClr val="4FA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FA4FF"/>
                </a:solidFill>
                <a:latin typeface="Consolas"/>
              </a:rPr>
              <a:t>Is there water flow?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flow speed &gt; 0.1 &amp;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40% random chance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474720" y="5486400"/>
            <a:ext cx="548640" cy="0"/>
          </a:xfrm>
          <a:prstGeom prst="line">
            <a:avLst/>
          </a:prstGeom>
          <a:ln w="25400">
            <a:solidFill>
              <a:srgbClr val="4F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4892040"/>
            <a:ext cx="2560320" cy="1188720"/>
          </a:xfrm>
          <a:prstGeom prst="roundRect">
            <a:avLst/>
          </a:prstGeom>
          <a:solidFill>
            <a:srgbClr val="0A1222"/>
          </a:solidFill>
          <a:ln w="25400">
            <a:solidFill>
              <a:srgbClr val="4FA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4FA4FF"/>
                </a:solidFill>
                <a:latin typeface="Consolas"/>
              </a:rPr>
              <a:t>RIDE THE FLOW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4FA4FF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There is a water current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at this tile. Drift along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with it (like a river).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Only if flow speed &gt; 0.1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66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A4FF"/>
                </a:solidFill>
                <a:latin typeface="Consolas"/>
              </a:rPr>
              <a:t>YES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303520" y="5897880"/>
            <a:ext cx="0" cy="45720"/>
          </a:xfrm>
          <a:prstGeom prst="line">
            <a:avLst/>
          </a:prstGeom>
          <a:ln w="25400">
            <a:solidFill>
              <a:srgbClr val="888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94960" y="5897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6060"/>
                </a:solidFill>
                <a:latin typeface="Consolas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" y="5943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700"/>
                </a:solidFill>
                <a:latin typeface="Consolas"/>
              </a:rPr>
              <a:t>STEP 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5897880"/>
            <a:ext cx="2743200" cy="640080"/>
          </a:xfrm>
          <a:prstGeom prst="roundRect">
            <a:avLst/>
          </a:prstGeom>
          <a:solidFill>
            <a:srgbClr val="20150A"/>
          </a:solidFill>
          <a:ln w="25400">
            <a:solidFill>
              <a:srgbClr val="EF8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F8F3F"/>
                </a:solidFill>
                <a:latin typeface="Consolas"/>
              </a:rPr>
              <a:t>WANDER RANDOMLY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Nothing else worked — pick a random direction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240280"/>
            <a:ext cx="2743200" cy="1828800"/>
          </a:xfrm>
          <a:prstGeom prst="roundRect">
            <a:avLst/>
          </a:prstGeom>
          <a:solidFill>
            <a:srgbClr val="1A1010"/>
          </a:solidFill>
          <a:ln w="25400">
            <a:solidFill>
              <a:srgbClr val="E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06060"/>
                </a:solidFill>
                <a:latin typeface="Consolas"/>
              </a:rPr>
              <a:t>HUNGER SYSTEM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Every frame, hunger grows: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0B0C0"/>
                </a:solidFill>
                <a:latin typeface="Consolas"/>
              </a:rPr>
              <a:t>hunger += delta * 0.3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The hungrier the rival,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the MORE LIKELY it will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choose "Seek Food".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AAABB"/>
                </a:solidFill>
                <a:latin typeface="Consolas"/>
              </a:rPr>
              <a:t>seek_chance: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4FDF6F"/>
                </a:solidFill>
                <a:latin typeface="Consolas"/>
              </a:rPr>
              <a:t>  low hunger  = 45%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E06060"/>
                </a:solidFill>
                <a:latin typeface="Consolas"/>
              </a:rPr>
              <a:t>  high hunger = 75%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4FDF6F"/>
                </a:solidFill>
                <a:latin typeface="Consolas"/>
              </a:rPr>
              <a:t>Eating resets hunger to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023360"/>
            <a:ext cx="2743200" cy="1920240"/>
          </a:xfrm>
          <a:prstGeom prst="roundRect">
            <a:avLst/>
          </a:prstGeom>
          <a:solidFill>
            <a:srgbClr val="101020"/>
          </a:solidFill>
          <a:ln w="25400">
            <a:solidFill>
              <a:srgbClr val="CF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F6FFF"/>
                </a:solidFill>
                <a:latin typeface="Consolas"/>
              </a:rPr>
              <a:t>WHAT IS "delta"?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delta = the time (in seconds)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since the last frame was drawn.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AAABB"/>
                </a:solidFill>
                <a:latin typeface="Consolas"/>
              </a:rPr>
              <a:t>At 60 FPS: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0B0C0"/>
                </a:solidFill>
                <a:latin typeface="Consolas"/>
              </a:rPr>
              <a:t>  delta = ~0.016 sec (1/60)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AAABB"/>
                </a:solidFill>
                <a:latin typeface="Consolas"/>
              </a:rPr>
              <a:t>At 30 FPS: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0B0C0"/>
                </a:solidFill>
                <a:latin typeface="Consolas"/>
              </a:rPr>
              <a:t>  delta = ~0.033 sec (1/30)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Why use it? So the game runs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at the SAME SPEED on fast &amp;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slow computers. Without delta,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a faster PC = faster hunger.</a:t>
            </a:r>
          </a:p>
          <a:p>
            <a:pPr algn="ctr">
              <a:spcAft>
                <a:spcPts val="200"/>
              </a:spcAft>
            </a:pPr>
            <a:r>
              <a:rPr sz="4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D700"/>
                </a:solidFill>
                <a:latin typeface="Consolas"/>
              </a:rPr>
              <a:t>hunger += delta * 0.3 means: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"grow hunger by 0.3 per second,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AAAABB"/>
                </a:solidFill>
                <a:latin typeface="Consolas"/>
              </a:rPr>
              <a:t> regardless of frame rate."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Consolas"/>
              </a:rPr>
              <a:t>ARKE: Guardians of Earth  |  rival.gd  |  do_move() is the brain of every rival microbe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700"/>
                </a:solidFill>
                <a:latin typeface="Consolas"/>
              </a:rPr>
              <a:t>Rival AI — Code Walkthrough (Line by 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BB"/>
                </a:solidFill>
                <a:latin typeface="Consolas"/>
              </a:rPr>
              <a:t>rival.gd  —  Each line is annotated so you can follow along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5715000" cy="384048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CF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/>
            <a:r>
              <a:rPr sz="1100" b="1">
                <a:solidFill>
                  <a:srgbClr val="CF6FFF"/>
                </a:solidFill>
                <a:latin typeface="Consolas"/>
              </a:rPr>
              <a:t>  1. SETUP — Constants &amp; Variables</a:t>
            </a:r>
            <a:r>
              <a:rPr sz="800">
                <a:solidFill>
                  <a:srgbClr val="888899"/>
                </a:solidFill>
                <a:latin typeface="Consolas"/>
              </a:rPr>
              <a:t>    (Lines 4-17)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AAAABB"/>
                </a:solidFill>
                <a:latin typeface="Consolas"/>
              </a:rPr>
              <a:t>    These values are set once when the rival spawns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52728"/>
            <a:ext cx="5715000" cy="822960"/>
          </a:xfrm>
          <a:prstGeom prst="roundRect">
            <a:avLst/>
          </a:prstGeom>
          <a:solidFill>
            <a:srgbClr val="101422"/>
          </a:solidFill>
          <a:ln w="12700">
            <a:solidFill>
              <a:srgbClr val="1A1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const SENSE_RANGE := 12</a:t>
            </a:r>
            <a:r>
              <a:rPr sz="850">
                <a:solidFill>
                  <a:srgbClr val="708858"/>
                </a:solidFill>
                <a:latin typeface="Consolas"/>
              </a:rPr>
              <a:t>  # The rival can 'smell' food up to 12 tiles away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const PLAYER_SENSE := 10</a:t>
            </a:r>
            <a:r>
              <a:rPr sz="850">
                <a:solidFill>
                  <a:srgbClr val="708858"/>
                </a:solidFill>
                <a:latin typeface="Consolas"/>
              </a:rPr>
              <a:t>  # It can detect the player (ARKE) within 10 tiles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var hunger: float = 0.0</a:t>
            </a:r>
            <a:r>
              <a:rPr sz="850">
                <a:solidFill>
                  <a:srgbClr val="708858"/>
                </a:solidFill>
                <a:latin typeface="Consolas"/>
              </a:rPr>
              <a:t>  # Starts at 0; increases every frame over time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var move_dir: int = 1</a:t>
            </a:r>
            <a:r>
              <a:rPr sz="850">
                <a:solidFill>
                  <a:srgbClr val="708858"/>
                </a:solidFill>
                <a:latin typeface="Consolas"/>
              </a:rPr>
              <a:t>  # Its preferred wander direction (1=N, 2=E, 3=S, 4=W)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30552"/>
            <a:ext cx="5715000" cy="384048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E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/>
            <a:r>
              <a:rPr sz="1100" b="1">
                <a:solidFill>
                  <a:srgbClr val="E06060"/>
                </a:solidFill>
                <a:latin typeface="Consolas"/>
              </a:rPr>
              <a:t>  2. HUNGER GROWS — Called every frame</a:t>
            </a:r>
            <a:r>
              <a:rPr sz="800">
                <a:solidFill>
                  <a:srgbClr val="888899"/>
                </a:solidFill>
                <a:latin typeface="Consolas"/>
              </a:rPr>
              <a:t>    (Line 28-30)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AAAABB"/>
                </a:solidFill>
                <a:latin typeface="Consolas"/>
              </a:rPr>
              <a:t>    delta makes this frame-rate independent (see Slide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14600"/>
            <a:ext cx="5715000" cy="822960"/>
          </a:xfrm>
          <a:prstGeom prst="roundRect">
            <a:avLst/>
          </a:prstGeom>
          <a:solidFill>
            <a:srgbClr val="101422"/>
          </a:solidFill>
          <a:ln w="12700">
            <a:solidFill>
              <a:srgbClr val="1A1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func _process(delta):</a:t>
            </a:r>
            <a:r>
              <a:rPr sz="850">
                <a:solidFill>
                  <a:srgbClr val="708858"/>
                </a:solidFill>
                <a:latin typeface="Consolas"/>
              </a:rPr>
              <a:t>  # Godot calls this every single frame (~60x per sec)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hunger += delta * 0.3</a:t>
            </a:r>
            <a:r>
              <a:rPr sz="850">
                <a:solidFill>
                  <a:srgbClr val="708858"/>
                </a:solidFill>
                <a:latin typeface="Consolas"/>
              </a:rPr>
              <a:t>  # delta = time since last frame (e.g. 0.016s at 60fps)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# So hunger grows by exactly 0.3 per second,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# no matter if the game runs at 30fps or 120fps.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392424"/>
            <a:ext cx="5715000" cy="384048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4FD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/>
            <a:r>
              <a:rPr sz="1100" b="1">
                <a:solidFill>
                  <a:srgbClr val="4FDF6F"/>
                </a:solidFill>
                <a:latin typeface="Consolas"/>
              </a:rPr>
              <a:t>  3. SEEK FOOD — Highest priority (45-75% chance)</a:t>
            </a:r>
            <a:r>
              <a:rPr sz="800">
                <a:solidFill>
                  <a:srgbClr val="888899"/>
                </a:solidFill>
                <a:latin typeface="Consolas"/>
              </a:rPr>
              <a:t>    (Lines 53-64, 117-132)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AAAABB"/>
                </a:solidFill>
                <a:latin typeface="Consolas"/>
              </a:rPr>
              <a:t>    The hungrier the rival, the more likely it picks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776472"/>
            <a:ext cx="5715000" cy="1737360"/>
          </a:xfrm>
          <a:prstGeom prst="roundRect">
            <a:avLst/>
          </a:prstGeom>
          <a:solidFill>
            <a:srgbClr val="101422"/>
          </a:solidFill>
          <a:ln w="12700">
            <a:solidFill>
              <a:srgbClr val="1A1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var seek_chance = clampf(</a:t>
            </a:r>
            <a:r>
              <a:rPr sz="850">
                <a:solidFill>
                  <a:srgbClr val="708858"/>
                </a:solidFill>
                <a:latin typeface="Consolas"/>
              </a:rPr>
              <a:t>  # Calculate the chance to seek food: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0.45 + hunger * 0.05,</a:t>
            </a:r>
            <a:r>
              <a:rPr sz="850">
                <a:solidFill>
                  <a:srgbClr val="708858"/>
                </a:solidFill>
                <a:latin typeface="Consolas"/>
              </a:rPr>
              <a:t>  #   Base 45% + 5% per hunger point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0.45, 0.75)</a:t>
            </a:r>
            <a:r>
              <a:rPr sz="850">
                <a:solidFill>
                  <a:srgbClr val="708858"/>
                </a:solidFill>
                <a:latin typeface="Consolas"/>
              </a:rPr>
              <a:t>  #   But never below 45% or above 75%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if roll &lt; seek_chance:</a:t>
            </a:r>
            <a:r>
              <a:rPr sz="850">
                <a:solidFill>
                  <a:srgbClr val="708858"/>
                </a:solidFill>
                <a:latin typeface="Consolas"/>
              </a:rPr>
              <a:t>  # Did we roll low enough? → Go find food!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var best = _seek_substrate(subs)</a:t>
            </a:r>
            <a:r>
              <a:rPr sz="850">
                <a:solidFill>
                  <a:srgbClr val="708858"/>
                </a:solidFill>
                <a:latin typeface="Consolas"/>
              </a:rPr>
              <a:t>  # Scan all food sources on the map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for s in subs:</a:t>
            </a:r>
            <a:r>
              <a:rPr sz="850">
                <a:solidFill>
                  <a:srgbClr val="708858"/>
                </a:solidFill>
                <a:latin typeface="Consolas"/>
              </a:rPr>
              <a:t>  # Loop through each food item one by one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  if dist &lt; SENSE_RANGE * T:</a:t>
            </a:r>
            <a:r>
              <a:rPr sz="850">
                <a:solidFill>
                  <a:srgbClr val="708858"/>
                </a:solidFill>
                <a:latin typeface="Consolas"/>
              </a:rPr>
              <a:t>  # Is this food within our 12-tile smell range?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    best_pos = s.position</a:t>
            </a:r>
            <a:r>
              <a:rPr sz="850">
                <a:solidFill>
                  <a:srgbClr val="708858"/>
                </a:solidFill>
                <a:latin typeface="Consolas"/>
              </a:rPr>
              <a:t>  # Yes — remember it as the closest food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return _step_toward(best_pos)</a:t>
            </a:r>
            <a:r>
              <a:rPr sz="850">
                <a:solidFill>
                  <a:srgbClr val="708858"/>
                </a:solidFill>
                <a:latin typeface="Consolas"/>
              </a:rPr>
              <a:t>  # Move one tile closer to that food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568696"/>
            <a:ext cx="5715000" cy="384048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2AC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/>
            <a:r>
              <a:rPr sz="1100" b="1">
                <a:solidFill>
                  <a:srgbClr val="2ACFAF"/>
                </a:solidFill>
                <a:latin typeface="Consolas"/>
              </a:rPr>
              <a:t>  4. TRACK ARKE — Chase the player (15% chance)</a:t>
            </a:r>
            <a:r>
              <a:rPr sz="800">
                <a:solidFill>
                  <a:srgbClr val="888899"/>
                </a:solidFill>
                <a:latin typeface="Consolas"/>
              </a:rPr>
              <a:t>    (Lines 67-80)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AAAABB"/>
                </a:solidFill>
                <a:latin typeface="Consolas"/>
              </a:rPr>
              <a:t>    Only happens if the player is close enough to notice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952744"/>
            <a:ext cx="5715000" cy="1005840"/>
          </a:xfrm>
          <a:prstGeom prst="roundRect">
            <a:avLst/>
          </a:prstGeom>
          <a:solidFill>
            <a:srgbClr val="101422"/>
          </a:solidFill>
          <a:ln w="12700">
            <a:solidFill>
              <a:srgbClr val="1A1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elif roll &lt; seek_chance + 0.15:</a:t>
            </a:r>
            <a:r>
              <a:rPr sz="850">
                <a:solidFill>
                  <a:srgbClr val="708858"/>
                </a:solidFill>
                <a:latin typeface="Consolas"/>
              </a:rPr>
              <a:t>  # Extra 15% chance to chase the player instead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var dx = player.tile_x - tile_x</a:t>
            </a:r>
            <a:r>
              <a:rPr sz="850">
                <a:solidFill>
                  <a:srgbClr val="708858"/>
                </a:solidFill>
                <a:latin typeface="Consolas"/>
              </a:rPr>
              <a:t>  # How far away is ARKE horizontally?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var dy = player.tile_y - tile_y</a:t>
            </a:r>
            <a:r>
              <a:rPr sz="850">
                <a:solidFill>
                  <a:srgbClr val="708858"/>
                </a:solidFill>
                <a:latin typeface="Consolas"/>
              </a:rPr>
              <a:t>  # How far away is ARKE vertically?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if absi(dx)+absi(dy) &lt; PLAYER_SENSE:</a:t>
            </a:r>
            <a:r>
              <a:rPr sz="850">
                <a:solidFill>
                  <a:srgbClr val="708858"/>
                </a:solidFill>
                <a:latin typeface="Consolas"/>
              </a:rPr>
              <a:t>  # Total distance &lt; 10 tiles? Player is detected!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  _step_toward(dx, dy)</a:t>
            </a:r>
            <a:r>
              <a:rPr sz="850">
                <a:solidFill>
                  <a:srgbClr val="708858"/>
                </a:solidFill>
                <a:latin typeface="Consolas"/>
              </a:rPr>
              <a:t>  # Move one step toward ARKE's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868680"/>
            <a:ext cx="5715000" cy="384048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4FA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/>
            <a:r>
              <a:rPr sz="1100" b="1">
                <a:solidFill>
                  <a:srgbClr val="4FA4FF"/>
                </a:solidFill>
                <a:latin typeface="Consolas"/>
              </a:rPr>
              <a:t>  5. RIDE FLOW — Drift with the current (40% chance)</a:t>
            </a:r>
            <a:r>
              <a:rPr sz="800">
                <a:solidFill>
                  <a:srgbClr val="888899"/>
                </a:solidFill>
                <a:latin typeface="Consolas"/>
              </a:rPr>
              <a:t>    (Lines 86-96)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AAAABB"/>
                </a:solidFill>
                <a:latin typeface="Consolas"/>
              </a:rPr>
              <a:t>    Only available if the tile has a water current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52728"/>
            <a:ext cx="5715000" cy="1188720"/>
          </a:xfrm>
          <a:prstGeom prst="roundRect">
            <a:avLst/>
          </a:prstGeom>
          <a:solidFill>
            <a:srgbClr val="101422"/>
          </a:solidFill>
          <a:ln w="12700">
            <a:solidFill>
              <a:srgbClr val="1A1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var flow = world_ref.get_flow(</a:t>
            </a:r>
            <a:r>
              <a:rPr sz="850">
                <a:solidFill>
                  <a:srgbClr val="708858"/>
                </a:solidFill>
                <a:latin typeface="Consolas"/>
              </a:rPr>
              <a:t>  # Ask the world: 'Is there a current at my tile?'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tile_x, tile_y)</a:t>
            </a:r>
            <a:r>
              <a:rPr sz="850">
                <a:solidFill>
                  <a:srgbClr val="708858"/>
                </a:solidFill>
                <a:latin typeface="Consolas"/>
              </a:rPr>
              <a:t>  # Returns {dir: N/S/E/W, speed: 0.0-1.0}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if flow['speed'] &gt; 0.1</a:t>
            </a:r>
            <a:r>
              <a:rPr sz="850">
                <a:solidFill>
                  <a:srgbClr val="708858"/>
                </a:solidFill>
                <a:latin typeface="Consolas"/>
              </a:rPr>
              <a:t>  # Is the current strong enough? (&gt; 10% speed)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 and randf() &lt; 0.4:</a:t>
            </a:r>
            <a:r>
              <a:rPr sz="850">
                <a:solidFill>
                  <a:srgbClr val="708858"/>
                </a:solidFill>
                <a:latin typeface="Consolas"/>
              </a:rPr>
              <a:t>  # AND a 40% random chance — not always drifting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var fd = flow_dirs[flow['dir']]</a:t>
            </a:r>
            <a:r>
              <a:rPr sz="850">
                <a:solidFill>
                  <a:srgbClr val="708858"/>
                </a:solidFill>
                <a:latin typeface="Consolas"/>
              </a:rPr>
              <a:t>  # Convert 'North' → Vector2(0, -1) etc.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_move_to(tile_x+fd.x, tile_y+fd.y)</a:t>
            </a:r>
            <a:r>
              <a:rPr sz="850">
                <a:solidFill>
                  <a:srgbClr val="708858"/>
                </a:solidFill>
                <a:latin typeface="Consolas"/>
              </a:rPr>
              <a:t>  # Move one tile in the flow 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96312"/>
            <a:ext cx="5715000" cy="384048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EF8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/>
            <a:r>
              <a:rPr sz="1100" b="1">
                <a:solidFill>
                  <a:srgbClr val="EF8F3F"/>
                </a:solidFill>
                <a:latin typeface="Consolas"/>
              </a:rPr>
              <a:t>  6. WANDER — Last resort if nothing else triggers</a:t>
            </a:r>
            <a:r>
              <a:rPr sz="800">
                <a:solidFill>
                  <a:srgbClr val="888899"/>
                </a:solidFill>
                <a:latin typeface="Consolas"/>
              </a:rPr>
              <a:t>    (Lines 98-115)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AAAABB"/>
                </a:solidFill>
                <a:latin typeface="Consolas"/>
              </a:rPr>
              <a:t>    The rival just picks a direction and walks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5715000" cy="1371600"/>
          </a:xfrm>
          <a:prstGeom prst="roundRect">
            <a:avLst/>
          </a:prstGeom>
          <a:solidFill>
            <a:srgbClr val="101422"/>
          </a:solidFill>
          <a:ln w="12700">
            <a:solidFill>
              <a:srgbClr val="1A1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var dirs = [N, E, S, W]</a:t>
            </a:r>
            <a:r>
              <a:rPr sz="850">
                <a:solidFill>
                  <a:srgbClr val="708858"/>
                </a:solidFill>
                <a:latin typeface="Consolas"/>
              </a:rPr>
              <a:t>  # All 4 possible directions to walk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var preferred = dirs[move_dir-1]</a:t>
            </a:r>
            <a:r>
              <a:rPr sz="850">
                <a:solidFill>
                  <a:srgbClr val="708858"/>
                </a:solidFill>
                <a:latin typeface="Consolas"/>
              </a:rPr>
              <a:t>  # Start with its favorite direction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if is_walkable_tile(preferred):</a:t>
            </a:r>
            <a:r>
              <a:rPr sz="850">
                <a:solidFill>
                  <a:srgbClr val="708858"/>
                </a:solidFill>
                <a:latin typeface="Consolas"/>
              </a:rPr>
              <a:t>  # Is there solid ground that way?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_move_to(preferred)</a:t>
            </a:r>
            <a:r>
              <a:rPr sz="850">
                <a:solidFill>
                  <a:srgbClr val="708858"/>
                </a:solidFill>
                <a:latin typeface="Consolas"/>
              </a:rPr>
              <a:t>  # Yes — walk there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if randf() &lt; 0.25:</a:t>
            </a:r>
            <a:r>
              <a:rPr sz="850">
                <a:solidFill>
                  <a:srgbClr val="708858"/>
                </a:solidFill>
                <a:latin typeface="Consolas"/>
              </a:rPr>
              <a:t>  # 25% chance to randomly change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  move_dir = randi_range(1,4)</a:t>
            </a:r>
            <a:r>
              <a:rPr sz="850">
                <a:solidFill>
                  <a:srgbClr val="708858"/>
                </a:solidFill>
                <a:latin typeface="Consolas"/>
              </a:rPr>
              <a:t>  #   its favorite direction (keeps it varied)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else: dirs.shuffle(); try each</a:t>
            </a:r>
            <a:r>
              <a:rPr sz="850">
                <a:solidFill>
                  <a:srgbClr val="708858"/>
                </a:solidFill>
                <a:latin typeface="Consolas"/>
              </a:rPr>
              <a:t>  # Blocked? Try random directions instead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306824"/>
            <a:ext cx="5715000" cy="384048"/>
          </a:xfrm>
          <a:prstGeom prst="roundRect">
            <a:avLst/>
          </a:prstGeom>
          <a:solidFill>
            <a:srgbClr val="0E1220"/>
          </a:solidFill>
          <a:ln w="19050">
            <a:solidFill>
              <a:srgbClr val="FFF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/>
            <a:r>
              <a:rPr sz="1100" b="1">
                <a:solidFill>
                  <a:srgbClr val="FFFF5F"/>
                </a:solidFill>
                <a:latin typeface="Consolas"/>
              </a:rPr>
              <a:t>  7. EATING — What happens when the rival finds food</a:t>
            </a:r>
            <a:r>
              <a:rPr sz="800">
                <a:solidFill>
                  <a:srgbClr val="888899"/>
                </a:solidFill>
                <a:latin typeface="Consolas"/>
              </a:rPr>
              <a:t>    (Lines 167-171)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AAAABB"/>
                </a:solidFill>
                <a:latin typeface="Consolas"/>
              </a:rPr>
              <a:t>    Resets hunger so the rival calms 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690872"/>
            <a:ext cx="5715000" cy="1005840"/>
          </a:xfrm>
          <a:prstGeom prst="roundRect">
            <a:avLst/>
          </a:prstGeom>
          <a:solidFill>
            <a:srgbClr val="101422"/>
          </a:solidFill>
          <a:ln w="12700">
            <a:solidFill>
              <a:srgbClr val="1A1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func on_eat() -&gt; void:</a:t>
            </a:r>
            <a:r>
              <a:rPr sz="850">
                <a:solidFill>
                  <a:srgbClr val="708858"/>
                </a:solidFill>
                <a:latin typeface="Consolas"/>
              </a:rPr>
              <a:t>  # This is called when the rival reaches food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eat_flash = 0.3</a:t>
            </a:r>
            <a:r>
              <a:rPr sz="850">
                <a:solidFill>
                  <a:srgbClr val="708858"/>
                </a:solidFill>
                <a:latin typeface="Consolas"/>
              </a:rPr>
              <a:t>  # Show a red flash for 0.3 sec (visual feedback)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hunger = 0.0</a:t>
            </a:r>
            <a:r>
              <a:rPr sz="850">
                <a:solidFill>
                  <a:srgbClr val="708858"/>
                </a:solidFill>
                <a:latin typeface="Consolas"/>
              </a:rPr>
              <a:t>  # Reset hunger to 0 → seek_chance drops to 45%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# The rival is now 'full' and more likely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>
                <a:solidFill>
                  <a:srgbClr val="50B0C0"/>
                </a:solidFill>
                <a:latin typeface="Consolas"/>
              </a:rPr>
              <a:t>  # to wander or ride flow instead of seeking.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Consolas"/>
              </a:rPr>
              <a:t>ARKE: Guardians of Earth  |  rival.gd  |  GDScript (Godot 4.x)  |  Read each green comment left-to-right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D700"/>
                </a:solidFill>
                <a:latin typeface="Consolas"/>
              </a:rPr>
              <a:t>Rival AI — The 4 Behaviors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BB"/>
                </a:solidFill>
                <a:latin typeface="Consolas"/>
              </a:rPr>
              <a:t>The rival checks these in order. The first one that passes wins.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1188720"/>
            <a:ext cx="2468880" cy="3291840"/>
          </a:xfrm>
          <a:prstGeom prst="roundRect">
            <a:avLst/>
          </a:prstGeom>
          <a:solidFill>
            <a:srgbClr val="141828"/>
          </a:solidFill>
          <a:ln w="25400">
            <a:solidFill>
              <a:srgbClr val="4FD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44500" lIns="152400" rIns="152400"/>
          <a:lstStyle/>
          <a:p>
            <a:pPr algn="ctr"/>
            <a:r>
              <a:rPr sz="1800" b="1">
                <a:solidFill>
                  <a:srgbClr val="4FDF6F"/>
                </a:solidFill>
                <a:latin typeface="Consolas"/>
              </a:rPr>
              <a:t>SEEK
FOOD</a:t>
            </a:r>
          </a:p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D700"/>
                </a:solidFill>
                <a:latin typeface="Consolas"/>
              </a:rPr>
              <a:t>Chance: 45-75%</a:t>
            </a:r>
          </a:p>
          <a:p>
            <a:pPr algn="ctr">
              <a:spcBef>
                <a:spcPts val="1400"/>
              </a:spcBef>
            </a:pPr>
            <a:r>
              <a:rPr sz="1000">
                <a:solidFill>
                  <a:srgbClr val="AAAABB"/>
                </a:solidFill>
                <a:latin typeface="Consolas"/>
              </a:rPr>
              <a:t>The rival looks for the
closest food within 12
tiles and walks toward it.
Higher hunger = higher
chance (45% up to 75%).</a:t>
            </a:r>
          </a:p>
        </p:txBody>
      </p:sp>
      <p:sp>
        <p:nvSpPr>
          <p:cNvPr id="5" name="Oval 4"/>
          <p:cNvSpPr/>
          <p:nvPr/>
        </p:nvSpPr>
        <p:spPr>
          <a:xfrm>
            <a:off x="1569567" y="960120"/>
            <a:ext cx="548640" cy="548640"/>
          </a:xfrm>
          <a:prstGeom prst="ellipse">
            <a:avLst/>
          </a:prstGeom>
          <a:solidFill>
            <a:srgbClr val="4FD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A0E1A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615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88899"/>
                </a:solidFill>
                <a:latin typeface="Consolas"/>
              </a:rPr>
              <a:t>&gt;&gt;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4087" y="1188720"/>
            <a:ext cx="2468880" cy="3291840"/>
          </a:xfrm>
          <a:prstGeom prst="roundRect">
            <a:avLst/>
          </a:prstGeom>
          <a:solidFill>
            <a:srgbClr val="141828"/>
          </a:solidFill>
          <a:ln w="25400">
            <a:solidFill>
              <a:srgbClr val="2AC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44500" lIns="152400" rIns="152400"/>
          <a:lstStyle/>
          <a:p>
            <a:pPr algn="ctr"/>
            <a:r>
              <a:rPr sz="1800" b="1">
                <a:solidFill>
                  <a:srgbClr val="2ACFAF"/>
                </a:solidFill>
                <a:latin typeface="Consolas"/>
              </a:rPr>
              <a:t>TRACK
ARKE</a:t>
            </a:r>
          </a:p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D700"/>
                </a:solidFill>
                <a:latin typeface="Consolas"/>
              </a:rPr>
              <a:t>Chance: +15%</a:t>
            </a:r>
          </a:p>
          <a:p>
            <a:pPr algn="ctr">
              <a:spcBef>
                <a:spcPts val="1400"/>
              </a:spcBef>
            </a:pPr>
            <a:r>
              <a:rPr sz="1000">
                <a:solidFill>
                  <a:srgbClr val="AAAABB"/>
                </a:solidFill>
                <a:latin typeface="Consolas"/>
              </a:rPr>
              <a:t>If the player is within
10 tiles, the rival may
chase them to compete
for the same food area.
Only a 15% extra chance.</a:t>
            </a:r>
          </a:p>
        </p:txBody>
      </p:sp>
      <p:sp>
        <p:nvSpPr>
          <p:cNvPr id="8" name="Oval 7"/>
          <p:cNvSpPr/>
          <p:nvPr/>
        </p:nvSpPr>
        <p:spPr>
          <a:xfrm>
            <a:off x="4404207" y="960120"/>
            <a:ext cx="548640" cy="548640"/>
          </a:xfrm>
          <a:prstGeom prst="ellipse">
            <a:avLst/>
          </a:prstGeom>
          <a:solidFill>
            <a:srgbClr val="2AC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A0E1A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1255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88899"/>
                </a:solidFill>
                <a:latin typeface="Consolas"/>
              </a:rPr>
              <a:t>&gt;&gt;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188720"/>
            <a:ext cx="2468880" cy="3291840"/>
          </a:xfrm>
          <a:prstGeom prst="roundRect">
            <a:avLst/>
          </a:prstGeom>
          <a:solidFill>
            <a:srgbClr val="141828"/>
          </a:solidFill>
          <a:ln w="25400">
            <a:solidFill>
              <a:srgbClr val="4FA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44500" lIns="152400" rIns="152400"/>
          <a:lstStyle/>
          <a:p>
            <a:pPr algn="ctr"/>
            <a:r>
              <a:rPr sz="1800" b="1">
                <a:solidFill>
                  <a:srgbClr val="4FA4FF"/>
                </a:solidFill>
                <a:latin typeface="Consolas"/>
              </a:rPr>
              <a:t>RIDE
FLOW</a:t>
            </a:r>
          </a:p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D700"/>
                </a:solidFill>
                <a:latin typeface="Consolas"/>
              </a:rPr>
              <a:t>Chance: 40%*</a:t>
            </a:r>
          </a:p>
          <a:p>
            <a:pPr algn="ctr">
              <a:spcBef>
                <a:spcPts val="1400"/>
              </a:spcBef>
            </a:pPr>
            <a:r>
              <a:rPr sz="1000">
                <a:solidFill>
                  <a:srgbClr val="AAAABB"/>
                </a:solidFill>
                <a:latin typeface="Consolas"/>
              </a:rPr>
              <a:t>If there is a water
current at this tile
(speed &gt; 0.1), the rival
drifts with it.
40% chance per decision.</a:t>
            </a:r>
          </a:p>
        </p:txBody>
      </p:sp>
      <p:sp>
        <p:nvSpPr>
          <p:cNvPr id="11" name="Oval 10"/>
          <p:cNvSpPr/>
          <p:nvPr/>
        </p:nvSpPr>
        <p:spPr>
          <a:xfrm>
            <a:off x="7238847" y="960120"/>
            <a:ext cx="548640" cy="548640"/>
          </a:xfrm>
          <a:prstGeom prst="ellipse">
            <a:avLst/>
          </a:prstGeom>
          <a:solidFill>
            <a:srgbClr val="4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A0E1A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5895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88899"/>
                </a:solidFill>
                <a:latin typeface="Consolas"/>
              </a:rPr>
              <a:t>&gt;&gt;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13367" y="1188720"/>
            <a:ext cx="2468880" cy="3291840"/>
          </a:xfrm>
          <a:prstGeom prst="roundRect">
            <a:avLst/>
          </a:prstGeom>
          <a:solidFill>
            <a:srgbClr val="141828"/>
          </a:solidFill>
          <a:ln w="25400">
            <a:solidFill>
              <a:srgbClr val="EF8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44500" lIns="152400" rIns="152400"/>
          <a:lstStyle/>
          <a:p>
            <a:pPr algn="ctr"/>
            <a:r>
              <a:rPr sz="1800" b="1">
                <a:solidFill>
                  <a:srgbClr val="EF8F3F"/>
                </a:solidFill>
                <a:latin typeface="Consolas"/>
              </a:rPr>
              <a:t>WANDER</a:t>
            </a:r>
          </a:p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D700"/>
                </a:solidFill>
                <a:latin typeface="Consolas"/>
              </a:rPr>
              <a:t>Chance: Always</a:t>
            </a:r>
          </a:p>
          <a:p>
            <a:pPr algn="ctr">
              <a:spcBef>
                <a:spcPts val="1400"/>
              </a:spcBef>
            </a:pPr>
            <a:r>
              <a:rPr sz="1000">
                <a:solidFill>
                  <a:srgbClr val="AAAABB"/>
                </a:solidFill>
                <a:latin typeface="Consolas"/>
              </a:rPr>
              <a:t>Nothing else triggered.
Pick a direction and walk.
Try preferred dir first;
if blocked, shuffle and
try any open direction.
25% chance to change dir.</a:t>
            </a:r>
          </a:p>
        </p:txBody>
      </p:sp>
      <p:sp>
        <p:nvSpPr>
          <p:cNvPr id="14" name="Oval 13"/>
          <p:cNvSpPr/>
          <p:nvPr/>
        </p:nvSpPr>
        <p:spPr>
          <a:xfrm>
            <a:off x="10073487" y="960120"/>
            <a:ext cx="548640" cy="548640"/>
          </a:xfrm>
          <a:prstGeom prst="ellipse">
            <a:avLst/>
          </a:prstGeom>
          <a:solidFill>
            <a:srgbClr val="EF8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A0E1A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99"/>
                </a:solidFill>
                <a:latin typeface="Consolas"/>
              </a:rPr>
              <a:t>* Ride Flow only happens when the tile actually has a water current (speed &gt; 0.1)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212080"/>
            <a:ext cx="9418320" cy="1280160"/>
          </a:xfrm>
          <a:prstGeom prst="roundRect">
            <a:avLst/>
          </a:prstGeom>
          <a:solidFill>
            <a:srgbClr val="120E18"/>
          </a:solidFill>
          <a:ln w="19050">
            <a:solidFill>
              <a:srgbClr val="CF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F6FFF"/>
                </a:solidFill>
                <a:latin typeface="Consolas"/>
              </a:rPr>
              <a:t>KEY CONCEPTS</a:t>
            </a:r>
          </a:p>
          <a:p>
            <a:pPr algn="ctr">
              <a:spcAft>
                <a:spcPts val="200"/>
              </a:spcAft>
            </a:pPr>
            <a:r>
              <a:rPr sz="3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HUNGER:  hunger += delta * 0.3  means hunger grows by 0.3 every second.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AAAABB"/>
                </a:solidFill>
                <a:latin typeface="Consolas"/>
              </a:rPr>
              <a:t>         The hungrier the rival, the more it prioritizes finding food (45% -&gt; 75%).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FDF6F"/>
                </a:solidFill>
                <a:latin typeface="Consolas"/>
              </a:rPr>
              <a:t>         Eating food resets hunger back to 0 — the rival "calms down."</a:t>
            </a:r>
          </a:p>
          <a:p>
            <a:pPr algn="ctr">
              <a:spcAft>
                <a:spcPts val="200"/>
              </a:spcAft>
            </a:pPr>
            <a:r>
              <a:rPr sz="300" b="0">
                <a:solidFill>
                  <a:srgbClr val="888899"/>
                </a:solidFill>
                <a:latin typeface="Consolas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DELTA:   delta = seconds since the last frame.  At 60 FPS that is ~0.016 seconds.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AAAABB"/>
                </a:solidFill>
                <a:latin typeface="Consolas"/>
              </a:rPr>
              <a:t>         Multiplying by delta ensures the game behaves identically on all hardware.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06060"/>
                </a:solidFill>
                <a:latin typeface="Consolas"/>
              </a:rPr>
              <a:t>         Without it, a faster computer would make the rival get hungry faster!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Consolas"/>
              </a:rPr>
              <a:t>ARKE: Guardians of Earth  |  rival.gd  |  GDScript (Godot 4.x)  |  Based on CompLaB3D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